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iro" panose="020B0604020202020204" charset="-78"/>
      <p:regular r:id="rId15"/>
      <p:bold r:id="rId16"/>
    </p:embeddedFont>
    <p:embeddedFont>
      <p:font typeface="Cairo SemiBold" panose="020B0604020202020204" charset="-78"/>
      <p:regular r:id="rId17"/>
      <p:bold r:id="rId18"/>
    </p:embeddedFont>
    <p:embeddedFont>
      <p:font typeface="Calibri" panose="020F050202020403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5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51681570_5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551681570_5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51681570_5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551681570_5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51681570_5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551681570_5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551681570_5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551681570_5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551681570_5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551681570_5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51681570_5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551681570_5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1260" y="3383174"/>
            <a:ext cx="4715078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686938" y="689187"/>
            <a:ext cx="7281000" cy="1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تطبيق</a:t>
            </a:r>
            <a:r>
              <a:rPr lang="en-US" sz="3900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المحادثات</a:t>
            </a:r>
            <a:r>
              <a:rPr lang="en-US" sz="3900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الجماعية</a:t>
            </a:r>
            <a:r>
              <a:rPr lang="en-US" sz="3900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باستخدام</a:t>
            </a:r>
            <a:r>
              <a:rPr lang="en-US" sz="3900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3900" b="1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بروتوكول</a:t>
            </a:r>
            <a:r>
              <a:rPr lang="en-US" sz="3900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TCP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6224738" y="2651142"/>
            <a:ext cx="578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نظام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تواصل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فوري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متعدد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المستخدمين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مبني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بالكامل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بلغة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بايثون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0596112" y="3743757"/>
            <a:ext cx="1410226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إعداد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الطالب</a:t>
            </a:r>
            <a:endParaRPr sz="1200" b="0" i="0" u="none" strike="noStrike" cap="none" dirty="0">
              <a:solidFill>
                <a:srgbClr val="64748B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بشير</a:t>
            </a:r>
            <a:r>
              <a:rPr lang="en-US" sz="1200" b="1" i="0" u="none" strike="noStrike" cap="none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محمد</a:t>
            </a:r>
            <a:r>
              <a:rPr lang="en-US" sz="1200" b="1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العكلوك</a:t>
            </a:r>
            <a:endParaRPr lang="en-US" sz="1200" b="1" i="0" u="none" strike="noStrike" cap="none" dirty="0">
              <a:solidFill>
                <a:srgbClr val="F8FAFC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rgbClr val="F8FAFC"/>
              </a:solidFill>
              <a:latin typeface="Cairo"/>
              <a:cs typeface="Cairo"/>
              <a:sym typeface="Cairo"/>
            </a:endParaRPr>
          </a:p>
          <a:p>
            <a:pPr algn="r"/>
            <a:r>
              <a:rPr lang="ar-SA" sz="1400" b="0" i="0" u="none" strike="noStrike" cap="none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الرقم الجامعي</a:t>
            </a:r>
          </a:p>
          <a:p>
            <a:pPr algn="r"/>
            <a:r>
              <a:rPr lang="ar-SA" sz="1200" b="1" dirty="0">
                <a:solidFill>
                  <a:srgbClr val="F8FAFC"/>
                </a:solidFill>
                <a:latin typeface="Cairo"/>
                <a:cs typeface="Cairo"/>
                <a:sym typeface="Cairo"/>
              </a:rPr>
              <a:t>120251001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8230009" y="3759517"/>
            <a:ext cx="203092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مساق</a:t>
            </a:r>
            <a:endParaRPr sz="1200" dirty="0">
              <a:solidFill>
                <a:srgbClr val="64748B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مبادئ</a:t>
            </a:r>
            <a:r>
              <a:rPr lang="en-US" sz="1200" b="1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شبكات</a:t>
            </a:r>
            <a:endParaRPr lang="ar-SA" sz="1200" b="1" dirty="0">
              <a:solidFill>
                <a:srgbClr val="F8FAFC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ar-SA" sz="1200" b="1" i="0" u="none" strike="noStrike" cap="none" dirty="0">
              <a:solidFill>
                <a:srgbClr val="F8FAFC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م</a:t>
            </a:r>
            <a:r>
              <a:rPr lang="ar-SA" sz="1200" dirty="0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درس الم</a:t>
            </a:r>
            <a:r>
              <a:rPr lang="en-US" sz="1200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ساق</a:t>
            </a:r>
            <a:endParaRPr lang="ar-SA" sz="1200" dirty="0">
              <a:solidFill>
                <a:srgbClr val="64748B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8FAFC"/>
                </a:solidFill>
                <a:latin typeface="Cairo"/>
                <a:cs typeface="Cairo"/>
                <a:sym typeface="Cairo"/>
              </a:rPr>
              <a:t>المهندس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8FAFC"/>
                </a:solidFill>
                <a:latin typeface="Cairo"/>
                <a:cs typeface="Cairo"/>
                <a:sym typeface="Cairo"/>
              </a:rPr>
              <a:t> محمود الشيخ خليل</a:t>
            </a:r>
            <a:r>
              <a:rPr lang="en-US" sz="1200" b="1" dirty="0">
                <a:solidFill>
                  <a:srgbClr val="F8FAFC"/>
                </a:solidFill>
                <a:latin typeface="Cairo"/>
                <a:cs typeface="Cairo"/>
                <a:sym typeface="Cairo"/>
              </a:rPr>
              <a:t> </a:t>
            </a:r>
            <a:endParaRPr sz="1200" b="1" dirty="0">
              <a:solidFill>
                <a:srgbClr val="F8FAFC"/>
              </a:solidFill>
              <a:latin typeface="Cairo"/>
              <a:cs typeface="Cairo"/>
            </a:endParaRPr>
          </a:p>
        </p:txBody>
      </p:sp>
      <p:sp>
        <p:nvSpPr>
          <p:cNvPr id="90" name="Google Shape;90;p13"/>
          <p:cNvSpPr txBox="1"/>
          <p:nvPr/>
        </p:nvSpPr>
        <p:spPr>
          <a:xfrm flipH="1">
            <a:off x="6878193" y="3743757"/>
            <a:ext cx="145702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dirty="0" err="1">
                <a:solidFill>
                  <a:srgbClr val="64748B"/>
                </a:solidFill>
                <a:latin typeface="Cairo"/>
                <a:ea typeface="Cairo"/>
                <a:cs typeface="Cairo"/>
                <a:sym typeface="Cairo"/>
              </a:rPr>
              <a:t>جامعة</a:t>
            </a:r>
            <a:endParaRPr sz="1200" dirty="0">
              <a:solidFill>
                <a:srgbClr val="64748B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الكلية</a:t>
            </a:r>
            <a:r>
              <a:rPr lang="en-US" sz="1200" b="1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الجامعية</a:t>
            </a:r>
            <a:r>
              <a:rPr lang="en-US" sz="1200" b="1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للعلوم</a:t>
            </a:r>
            <a:r>
              <a:rPr lang="en-US" sz="1200" b="1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التطبيقية</a:t>
            </a:r>
            <a:endParaRPr sz="1200" b="1" dirty="0">
              <a:solidFill>
                <a:srgbClr val="F8FAFC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 dirty="0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 (UCAS)  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E412A5-32DC-4E8A-97E3-0D31BEAE43A2}"/>
              </a:ext>
            </a:extLst>
          </p:cNvPr>
          <p:cNvCxnSpPr>
            <a:cxnSpLocks/>
          </p:cNvCxnSpPr>
          <p:nvPr/>
        </p:nvCxnSpPr>
        <p:spPr>
          <a:xfrm>
            <a:off x="8723678" y="3743757"/>
            <a:ext cx="0" cy="11015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2415EB-CB8C-4AC7-8EBA-302E34A59BE0}"/>
              </a:ext>
            </a:extLst>
          </p:cNvPr>
          <p:cNvCxnSpPr>
            <a:cxnSpLocks/>
          </p:cNvCxnSpPr>
          <p:nvPr/>
        </p:nvCxnSpPr>
        <p:spPr>
          <a:xfrm>
            <a:off x="10489372" y="3766654"/>
            <a:ext cx="0" cy="10557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978871"/>
            <a:ext cx="5191125" cy="203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38" y="1978871"/>
            <a:ext cx="5191125" cy="203418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866106" y="2138321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شات</a:t>
            </a:r>
            <a:r>
              <a:rPr lang="en-US" sz="180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0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جماعي</a:t>
            </a:r>
            <a:r>
              <a:rPr lang="en-US" sz="180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 (Multi-User)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715201" y="2597387"/>
            <a:ext cx="4690986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ü"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يتيح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لعدة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مستخدمين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الدخول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إلى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غرفة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دردشة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موحدة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عبر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الشبكة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المحلية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وقت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واحد</a:t>
            </a:r>
            <a:endParaRPr lang="en-US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6715201" y="3269232"/>
            <a:ext cx="498761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يتم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إشعار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الجميع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بانضمام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مستخدم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جديد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باسمه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المستعار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فوراً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2124133" y="2160249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موثوقية</a:t>
            </a:r>
            <a:r>
              <a:rPr lang="en-US" sz="180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0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النقل</a:t>
            </a:r>
            <a:r>
              <a:rPr lang="en-US" sz="180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0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ببروتوكول</a:t>
            </a:r>
            <a:r>
              <a:rPr lang="en-US" sz="180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TCP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840670" y="2682030"/>
            <a:ext cx="45054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اختيار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نوع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الاتصالSOCK_STREAM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ل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ضمان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استقرار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الشات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720617" y="3140608"/>
            <a:ext cx="450540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يضمن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عدم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ضياع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حرف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أو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كلمة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متبادلة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ووصول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الرسائل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بالترتيب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الزمني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الصحيح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بنسبة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100%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01375" y="216262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0300" y="21869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235743" y="571500"/>
            <a:ext cx="110514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فكرة المشروع وهدفه الرئيسي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11382375" y="571500"/>
            <a:ext cx="47625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 l="1147" t="2749" b="111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3810025" y="377000"/>
            <a:ext cx="759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لماذا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بروتوكولTCP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؟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11580825" y="365600"/>
            <a:ext cx="47700" cy="6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1554" y="1764950"/>
            <a:ext cx="4880876" cy="23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527659" y="2001625"/>
            <a:ext cx="44742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الموثوقية</a:t>
            </a:r>
            <a:r>
              <a:rPr lang="en-US" sz="200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(Reliability) </a:t>
            </a:r>
            <a:endParaRPr sz="2475" b="1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ضمن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وصول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الرسالة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كاملة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بدون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نقص</a:t>
            </a:r>
            <a:r>
              <a:rPr lang="ar-SA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ان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للحفاظ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على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نص</a:t>
            </a:r>
            <a:r>
              <a:rPr lang="en-US" sz="16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المحاد</a:t>
            </a:r>
            <a:r>
              <a:rPr lang="ar-SA" sz="16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ثة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925" y="1764950"/>
            <a:ext cx="5028200" cy="23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835677" y="1895400"/>
            <a:ext cx="4474200" cy="18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الترتيب</a:t>
            </a:r>
            <a:r>
              <a:rPr lang="en-US" sz="200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(Ordered </a:t>
            </a:r>
            <a:r>
              <a:rPr lang="en-US" sz="180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Packets</a:t>
            </a:r>
            <a:r>
              <a:rPr lang="en-US" sz="200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)</a:t>
            </a:r>
            <a:r>
              <a:rPr lang="en-US" sz="2400" b="1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sz="2400" b="1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0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يضمن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وصول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النصوص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بنفس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ترتيب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إرسالها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حتى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لا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تسبق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كلمة</a:t>
            </a:r>
            <a:r>
              <a:rPr lang="en-US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6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كلمة </a:t>
            </a:r>
            <a:r>
              <a:rPr lang="en-US" sz="1650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أخرى</a:t>
            </a:r>
            <a:endParaRPr sz="1650" dirty="0">
              <a:solidFill>
                <a:schemeClr val="lt1"/>
              </a:solidFill>
            </a:endParaRPr>
          </a:p>
        </p:txBody>
      </p:sp>
      <p:pic>
        <p:nvPicPr>
          <p:cNvPr id="9" name="Google Shape;106;p14" descr="image.png">
            <a:extLst>
              <a:ext uri="{FF2B5EF4-FFF2-40B4-BE49-F238E27FC236}">
                <a16:creationId xmlns:a16="http://schemas.microsoft.com/office/drawing/2014/main" id="{1AB2733C-E0A9-450D-B621-59A842CC83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1474" y="21488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42;p24" descr="image.png">
            <a:extLst>
              <a:ext uri="{FF2B5EF4-FFF2-40B4-BE49-F238E27FC236}">
                <a16:creationId xmlns:a16="http://schemas.microsoft.com/office/drawing/2014/main" id="{9B23A46F-7714-473C-947B-802029404AE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2473" y="2030851"/>
            <a:ext cx="257174" cy="245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 l="1381" t="2034" b="2034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480560" y="582884"/>
            <a:ext cx="7099029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آلية التواصل (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(Communication Architecture</a:t>
            </a:r>
            <a:endParaRPr lang="en-US" sz="2550"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2894" y="1756634"/>
            <a:ext cx="8163699" cy="31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991360" y="2319693"/>
            <a:ext cx="7451553" cy="47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2437" lvl="0" indent="-342900" algn="r" rtl="1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75"/>
              <a:buFont typeface="Wingdings" panose="05000000000000000000" pitchFamily="2" charset="2"/>
              <a:buChar char="v"/>
            </a:pP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يعتمد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المشروع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بشكل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كامل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على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(Client-Server Architecture) </a:t>
            </a:r>
            <a:endParaRPr sz="18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2102310" y="3356147"/>
            <a:ext cx="7804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2437" lvl="0" indent="-342900" algn="l" rtl="1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75"/>
              <a:buFont typeface="Wingdings" panose="05000000000000000000" pitchFamily="2" charset="2"/>
              <a:buChar char="v"/>
            </a:pP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لا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يوجد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اتصال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مباشر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بين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كلاينت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وآخر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هو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الوسيط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المركزي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الوحيد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المسؤول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عن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استلام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وتوجيه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وتوزيع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حزم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بيانات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(Packet)</a:t>
            </a:r>
            <a:endParaRPr sz="2000" dirty="0">
              <a:solidFill>
                <a:schemeClr val="lt1"/>
              </a:solidFill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1082890" y="527522"/>
            <a:ext cx="47700" cy="6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743" y="-387425"/>
            <a:ext cx="13164570" cy="762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2701" y="1962593"/>
            <a:ext cx="3397299" cy="268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7291" y="1982393"/>
            <a:ext cx="3397299" cy="268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851" y="1962593"/>
            <a:ext cx="3397299" cy="2681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280350" y="2928718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.1الربط </a:t>
            </a:r>
            <a:r>
              <a:rPr lang="en-US" sz="1800" b="1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والاستماع</a:t>
            </a:r>
            <a:endParaRPr sz="1800" b="1" dirty="0">
              <a:solidFill>
                <a:srgbClr val="FFFFFF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8425550" y="3518968"/>
            <a:ext cx="290190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يشتغل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ويحجز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البورت8888 </a:t>
            </a:r>
            <a:r>
              <a:rPr lang="ar-SA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و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يبدأ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يستمع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للاتصالات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القادمة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عبر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دالة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listen()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4901950" y="2852968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2.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التعددية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(Threading)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4768800" y="3518968"/>
            <a:ext cx="29019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عشان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نخدم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كذا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كلاينت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نفس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الوقت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،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بنعمل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 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Thread</a:t>
            </a:r>
            <a:r>
              <a:rPr lang="en-US" sz="11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لكل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كلاينت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يتواصل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فيه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لحاله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فما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يتجمد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السيستم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1554010" y="2837054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3.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دالة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البث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(Broadcast)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1177576" y="3425543"/>
            <a:ext cx="29019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رسالة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بيستقبلها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</a:t>
            </a:r>
            <a:r>
              <a:rPr lang="en-US" sz="11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كلاينت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،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بدور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على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قائمة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المتصلين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وببعت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الرسالة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لكل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الكلاينت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نفس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اللحظة</a:t>
            </a:r>
            <a:endParaRPr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20400" y="2280043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89625" y="2102268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49550" y="2195643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089625" y="688943"/>
            <a:ext cx="11051381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آلية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عمل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(server.py)</a:t>
            </a:r>
            <a:endParaRPr dirty="0"/>
          </a:p>
        </p:txBody>
      </p:sp>
      <p:sp>
        <p:nvSpPr>
          <p:cNvPr id="148" name="Google Shape;148;p17"/>
          <p:cNvSpPr/>
          <p:nvPr/>
        </p:nvSpPr>
        <p:spPr>
          <a:xfrm>
            <a:off x="11382375" y="571500"/>
            <a:ext cx="47625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 l="772" t="1970" r="-1002"/>
          <a:stretch/>
        </p:blipFill>
        <p:spPr>
          <a:xfrm>
            <a:off x="0" y="-75600"/>
            <a:ext cx="123795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2693328" y="485575"/>
            <a:ext cx="8774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شرح جزء من كود (server.py)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11569125" y="474175"/>
            <a:ext cx="47700" cy="6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9550" y="1876988"/>
            <a:ext cx="4552500" cy="31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315625" y="1930275"/>
            <a:ext cx="3552600" cy="14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-US" sz="17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7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bind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7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HOST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7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en-US" sz="17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7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listen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F8F8F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rgbClr val="0B5394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243005" y="3333853"/>
            <a:ext cx="4396500" cy="1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نقوم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بربط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بالعنوان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المحلي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والبورت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المحدد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8888</a:t>
            </a:r>
            <a:endParaRPr sz="142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l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لاستقبال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اتصالات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الكلاينت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وقت</a:t>
            </a:r>
            <a:endParaRPr sz="142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ثم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استدعاء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دالة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listen() </a:t>
            </a:r>
            <a:r>
              <a:rPr lang="ar-SA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ل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لاستماع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للاتصالات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القادمة</a:t>
            </a:r>
            <a:endParaRPr sz="142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950" y="1801400"/>
            <a:ext cx="6546550" cy="31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52495" y="1919053"/>
            <a:ext cx="7303800" cy="14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 err="1">
                <a:solidFill>
                  <a:srgbClr val="FE4450"/>
                </a:solidFill>
                <a:latin typeface="Courier New"/>
                <a:ea typeface="Courier New"/>
                <a:cs typeface="Courier New"/>
                <a:sym typeface="Courier New"/>
              </a:rPr>
              <a:t>threading</a:t>
            </a:r>
            <a:r>
              <a:rPr lang="en-US" sz="17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750" dirty="0" err="1">
                <a:solidFill>
                  <a:srgbClr val="FE4450"/>
                </a:solidFill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750" i="1" dirty="0">
                <a:solidFill>
                  <a:srgbClr val="72F1B8"/>
                </a:solidFill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-US" sz="175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750" dirty="0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handle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750" i="1" dirty="0" err="1">
                <a:solidFill>
                  <a:srgbClr val="72F1B8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-US" sz="175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7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,))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-US" sz="17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7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1" dirty="0">
              <a:solidFill>
                <a:srgbClr val="10B98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35000" y="3345075"/>
            <a:ext cx="6044700" cy="1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توزيع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مسارات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الاتصال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(Multi-threading):</a:t>
            </a:r>
            <a:endParaRPr sz="142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بمجرد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دخول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مستخدم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جديد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،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بيفتح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له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مسار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(Thread)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خاص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به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عبر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دالة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handle ،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وذلك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لمنع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سقوط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السيستم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والسماح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للسيرفر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بخدمة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بقية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الكلاينتس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بالتوازي</a:t>
            </a:r>
            <a:endParaRPr sz="142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889955"/>
            <a:ext cx="5481221" cy="229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966294"/>
            <a:ext cx="5481221" cy="229314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830784" y="2290865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Receive Thread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6395621" y="2684110"/>
            <a:ext cx="511683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يعمل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بالخلفية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بشكل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مستمر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ودائم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للاستماع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لأي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رسالة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قادمة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6666406" y="3115068"/>
            <a:ext cx="5142092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فور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وصول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الرسالة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يقوم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بفك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تشفيرها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decode() </a:t>
            </a:r>
            <a:r>
              <a:rPr lang="ar-SA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وطباعتها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على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شاشة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الطالب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فوراً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.</a:t>
            </a:r>
            <a:endParaRPr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660277" y="2306602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Main Thread</a:t>
            </a: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713290" y="2828775"/>
            <a:ext cx="525387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يستقبل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نص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المحادثة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التي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يكتبها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</a:t>
            </a:r>
            <a:r>
              <a:rPr lang="en-US" sz="12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كلاينت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حلقة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لانهائية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عبر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دالة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input()</a:t>
            </a:r>
            <a:endParaRPr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552450" y="3229714"/>
            <a:ext cx="5291133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1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يدمج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الاسم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المستعار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مع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الرسالة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ويشفرها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بنظام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utf-8 </a:t>
            </a:r>
            <a:r>
              <a:rPr lang="ar-SA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ويرسلها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للسيرفر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فوراً</a:t>
            </a:r>
            <a:endParaRPr dirty="0"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01350" y="231516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56425" y="23151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7227093" y="653673"/>
            <a:ext cx="11051381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آلية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عمل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العميل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(client.py)</a:t>
            </a:r>
            <a:endParaRPr dirty="0"/>
          </a:p>
        </p:txBody>
      </p:sp>
      <p:sp>
        <p:nvSpPr>
          <p:cNvPr id="178" name="Google Shape;178;p19"/>
          <p:cNvSpPr/>
          <p:nvPr/>
        </p:nvSpPr>
        <p:spPr>
          <a:xfrm>
            <a:off x="11382375" y="571500"/>
            <a:ext cx="47625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 l="854" t="725" r="1001"/>
          <a:stretch/>
        </p:blipFill>
        <p:spPr>
          <a:xfrm>
            <a:off x="0" y="-20150"/>
            <a:ext cx="12745974" cy="730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2738678" y="470450"/>
            <a:ext cx="8774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شرح جزء من كود (client.py)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1614475" y="459050"/>
            <a:ext cx="47700" cy="6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24900" y="1861863"/>
            <a:ext cx="4552500" cy="31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224900" y="1958450"/>
            <a:ext cx="4625400" cy="2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receive_thread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 dirty="0" err="1">
                <a:solidFill>
                  <a:srgbClr val="FE4450"/>
                </a:solidFill>
                <a:latin typeface="Courier New"/>
                <a:ea typeface="Courier New"/>
                <a:cs typeface="Courier New"/>
                <a:sym typeface="Courier New"/>
              </a:rPr>
              <a:t>threading</a:t>
            </a:r>
            <a:r>
              <a:rPr lang="en-US" sz="16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650" dirty="0" err="1">
                <a:solidFill>
                  <a:srgbClr val="FE4450"/>
                </a:solidFill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50" i="1" dirty="0">
                <a:solidFill>
                  <a:srgbClr val="72F1B8"/>
                </a:solidFill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-US" sz="165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recieve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receive_thread</a:t>
            </a:r>
            <a:r>
              <a:rPr lang="en-US" sz="16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6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6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F732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F8F8F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rgbClr val="0B5394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7105325" y="3329950"/>
            <a:ext cx="43965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receive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شغالة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بـ Thread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منفصل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الخلفية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وظيفته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الوحيدة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الاستماع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لأي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رسالة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جاية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عبر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recv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()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ويطبعها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فوراً</a:t>
            </a:r>
            <a:endParaRPr sz="142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700" y="1469950"/>
            <a:ext cx="6546550" cy="31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89200" y="1796088"/>
            <a:ext cx="7303800" cy="14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50" dirty="0">
                <a:solidFill>
                  <a:srgbClr val="FF8B39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1650" dirty="0">
                <a:solidFill>
                  <a:srgbClr val="F97E7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6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1650" dirty="0">
                <a:solidFill>
                  <a:srgbClr val="F97E7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650" dirty="0">
                <a:solidFill>
                  <a:srgbClr val="FF8B39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650" dirty="0">
                <a:solidFill>
                  <a:srgbClr val="F97E7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650" dirty="0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50" dirty="0">
                <a:solidFill>
                  <a:srgbClr val="FF8B39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650" dirty="0">
                <a:solidFill>
                  <a:srgbClr val="F97E7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650" dirty="0">
                <a:solidFill>
                  <a:srgbClr val="FF8B39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1650" dirty="0">
              <a:solidFill>
                <a:srgbClr val="FF8B3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6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16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6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send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-US" sz="16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6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encode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50" dirty="0">
                <a:solidFill>
                  <a:srgbClr val="FF8B39"/>
                </a:solidFill>
                <a:latin typeface="Courier New"/>
                <a:ea typeface="Courier New"/>
                <a:cs typeface="Courier New"/>
                <a:sym typeface="Courier New"/>
              </a:rPr>
              <a:t>'utf-8'</a:t>
            </a:r>
            <a:r>
              <a:rPr lang="en-US" sz="16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90175" y="3102188"/>
            <a:ext cx="60447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المسار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الرئيسي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للبرنامج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بياخد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النص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ـ input()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ويدمجه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مع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الاسم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المستعار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وثم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يقوم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بتشفير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النص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الى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حزم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بيانات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بايتات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بنظام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(utf-8)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ويبعته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فوراً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للسيرفر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عشان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يعمل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2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له</a:t>
            </a:r>
            <a:r>
              <a:rPr lang="en-US" sz="142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broadcast</a:t>
            </a:r>
            <a:endParaRPr sz="142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 l="526" t="904" r="298" b="80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4806911" y="583218"/>
            <a:ext cx="693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آلية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إدارة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</a:t>
            </a:r>
            <a:r>
              <a:rPr lang="ar-SA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كلاينت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(Client Handling Mechanism)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1809044" y="545608"/>
            <a:ext cx="47700" cy="6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902" y="1505058"/>
            <a:ext cx="11200187" cy="50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104537" y="1345543"/>
            <a:ext cx="4008173" cy="57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7663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875"/>
              <a:buFont typeface="Cairo"/>
              <a:buChar char="❖"/>
            </a:pP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الدالة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(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: def handle (client</a:t>
            </a:r>
            <a:endParaRPr sz="18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1397" y="2165676"/>
            <a:ext cx="7465405" cy="4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4356121" y="2180486"/>
            <a:ext cx="7677300" cy="4126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8613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75"/>
              <a:buFont typeface="Cairo"/>
              <a:buChar char="❖"/>
            </a:pP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طريقة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العمل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: </a:t>
            </a:r>
            <a:endParaRPr sz="15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marR="0" lvl="0" indent="-31750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sz="1575" b="1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الاستماع</a:t>
            </a:r>
            <a:r>
              <a:rPr lang="en-US" sz="1575" b="1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b="1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المستمر</a:t>
            </a:r>
            <a:r>
              <a:rPr lang="en-US" sz="1575" b="1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: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تدخل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الدالة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حلقة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تكرارية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مستمرة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4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4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50" dirty="0">
                <a:solidFill>
                  <a:srgbClr val="1AFC6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4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مخصصة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لهذا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الclient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ف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قط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لاستقبال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رسائله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عبر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50" i="1" dirty="0" err="1">
                <a:solidFill>
                  <a:srgbClr val="28B881"/>
                </a:solidFill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14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4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recv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450" dirty="0">
                <a:solidFill>
                  <a:srgbClr val="F97E72"/>
                </a:solidFill>
                <a:latin typeface="Courier New"/>
                <a:ea typeface="Courier New"/>
                <a:cs typeface="Courier New"/>
                <a:sym typeface="Courier New"/>
              </a:rPr>
              <a:t>1024</a:t>
            </a:r>
            <a:endParaRPr sz="15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marR="0" lvl="0" indent="0" algn="l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marR="0" lvl="0" indent="-328613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75"/>
              <a:buFont typeface="Cairo"/>
              <a:buChar char="●"/>
            </a:pPr>
            <a:r>
              <a:rPr lang="en-US" sz="1575" b="1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اعادة</a:t>
            </a:r>
            <a:r>
              <a:rPr lang="en-US" sz="1575" b="1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b="1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التوجيه</a:t>
            </a:r>
            <a:r>
              <a:rPr lang="en-US" sz="1575" b="1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b="1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الدائم</a:t>
            </a:r>
            <a:r>
              <a:rPr lang="en-US" sz="1575" b="1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: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بمجرد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استلام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رسالة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نصية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client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تمررها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الدالة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فورا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الى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دالة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الbrodcast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ليتم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بثها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لبقية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الاجهزة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المتصلة</a:t>
            </a:r>
            <a:endParaRPr sz="15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marR="0" lvl="0" indent="0" algn="l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457200" marR="0" lvl="0" indent="0" algn="l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حال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حدوث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خطأ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أو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قطع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اتصال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مفاجئ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طرف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العميل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يقوم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بلوك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except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بإغلاق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الاتصال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وإزالته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القوائم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وبث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إشعار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مغادرته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للحفاظ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على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استقرار</a:t>
            </a:r>
            <a:r>
              <a:rPr lang="en-US" sz="15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endParaRPr sz="15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440" y="2180486"/>
            <a:ext cx="3438600" cy="4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770902" y="2263440"/>
            <a:ext cx="3438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handle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750" i="1" dirty="0">
                <a:solidFill>
                  <a:srgbClr val="28B881"/>
                </a:solidFill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>
                <a:solidFill>
                  <a:srgbClr val="1AFC65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7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i="1" dirty="0" err="1">
                <a:solidFill>
                  <a:srgbClr val="28B881"/>
                </a:solidFill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r>
              <a:rPr lang="en-US" sz="17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7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recv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750" dirty="0">
                <a:solidFill>
                  <a:srgbClr val="F97E72"/>
                </a:solidFill>
                <a:latin typeface="Courier New"/>
                <a:ea typeface="Courier New"/>
                <a:cs typeface="Courier New"/>
                <a:sym typeface="Courier New"/>
              </a:rPr>
              <a:t>1024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7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endParaRPr sz="1750" dirty="0">
              <a:solidFill>
                <a:srgbClr val="FEDE5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750" dirty="0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broadcast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7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7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7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endParaRPr sz="1750" dirty="0">
              <a:solidFill>
                <a:srgbClr val="FEDE5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50" dirty="0">
              <a:solidFill>
                <a:srgbClr val="FEDE5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 l="612" t="1181" r="652" b="1995"/>
          <a:stretch/>
        </p:blipFill>
        <p:spPr>
          <a:xfrm>
            <a:off x="-164123" y="-179213"/>
            <a:ext cx="12639372" cy="72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4743226" y="529805"/>
            <a:ext cx="693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آلية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البث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التزامني</a:t>
            </a:r>
            <a:r>
              <a:rPr lang="en-US" sz="2550" b="1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(Broadcast Mechanism)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1675026" y="518405"/>
            <a:ext cx="47700" cy="60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055" y="1593402"/>
            <a:ext cx="11356521" cy="53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8032200" y="1462387"/>
            <a:ext cx="351266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7663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875"/>
              <a:buFont typeface="Cairo"/>
              <a:buChar char="❖"/>
            </a:pP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 </a:t>
            </a:r>
            <a:r>
              <a:rPr lang="en-US" sz="18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الدال</a:t>
            </a:r>
            <a:r>
              <a:rPr lang="ar-SA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ة </a:t>
            </a:r>
            <a:r>
              <a:rPr lang="en-US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: def broadcast</a:t>
            </a:r>
            <a:r>
              <a:rPr lang="ar-SA" sz="18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sz="18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1950" y="2417399"/>
            <a:ext cx="7760626" cy="340466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3914400" y="2417400"/>
            <a:ext cx="7760626" cy="27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1313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775"/>
              <a:buFont typeface="Cairo"/>
              <a:buChar char="❖"/>
            </a:pP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    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طريقة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العمل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 sz="17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137160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1828800" marR="0" lvl="0" indent="-341313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775"/>
              <a:buFont typeface="Cairo"/>
              <a:buChar char="●"/>
            </a:pP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تستقبل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الدالة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المصفوفة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النصية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المشفرة</a:t>
            </a:r>
            <a:endParaRPr sz="17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1828800" marR="0" lvl="0" indent="-341313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75"/>
              <a:buFont typeface="Cairo"/>
              <a:buChar char="●"/>
            </a:pP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تقوم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بعمل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حلقة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تكرارية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(for client in clients)</a:t>
            </a:r>
            <a:endParaRPr sz="17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  <a:p>
            <a:pPr marL="1828800" marR="0" lvl="0" indent="-341313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75"/>
              <a:buFont typeface="Cairo"/>
              <a:buChar char="●"/>
            </a:pP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ترسل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الرسالة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إلى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مقبس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متصل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بالشبكة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نفس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اللحظة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باستثناء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775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775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نفسه</a:t>
            </a:r>
            <a:endParaRPr sz="1775" dirty="0">
              <a:solidFill>
                <a:srgbClr val="CBD5E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830" y="2417398"/>
            <a:ext cx="3438600" cy="340466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186055" y="2664994"/>
            <a:ext cx="34386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50" dirty="0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broadcast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50" i="1" dirty="0">
                <a:solidFill>
                  <a:srgbClr val="28B881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8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8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850" dirty="0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clients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8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850" dirty="0" err="1">
                <a:solidFill>
                  <a:srgbClr val="F73232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1850" dirty="0" err="1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850" dirty="0" err="1">
                <a:solidFill>
                  <a:srgbClr val="36F9F6"/>
                </a:solidFill>
                <a:latin typeface="Courier New"/>
                <a:ea typeface="Courier New"/>
                <a:cs typeface="Courier New"/>
                <a:sym typeface="Courier New"/>
              </a:rPr>
              <a:t>send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50" i="1" dirty="0">
                <a:solidFill>
                  <a:srgbClr val="28B881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8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50" dirty="0">
              <a:solidFill>
                <a:srgbClr val="FF7ED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 dirty="0">
                <a:solidFill>
                  <a:srgbClr val="FF7ED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1850" dirty="0">
                <a:solidFill>
                  <a:srgbClr val="FEDE5D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sz="1850" dirty="0">
              <a:solidFill>
                <a:srgbClr val="FEDE5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FEDE5D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021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615440" y="2451308"/>
            <a:ext cx="10239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عزل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الأخطاء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بـ Try-Except</a:t>
            </a:r>
            <a:r>
              <a:rPr lang="ar-SA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: ك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عمليات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الإرسال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والاستقبال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محصنة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تماماً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لحمايتها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الانهيار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عند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حدوث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انقطاع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مفاجئ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بالشبكة</a:t>
            </a:r>
            <a:endParaRPr dirty="0"/>
          </a:p>
        </p:txBody>
      </p:sp>
      <p:sp>
        <p:nvSpPr>
          <p:cNvPr id="224" name="Google Shape;224;p23"/>
          <p:cNvSpPr txBox="1"/>
          <p:nvPr/>
        </p:nvSpPr>
        <p:spPr>
          <a:xfrm>
            <a:off x="602614" y="2926328"/>
            <a:ext cx="1061783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الحذف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النظيف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والموثوق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ب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مجرد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مغادرة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أي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كلاينت</a:t>
            </a:r>
            <a:r>
              <a:rPr lang="ar-SA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يتم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التحقق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أولاً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وجوده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بالقائمة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لحذف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الاتصال الخاص به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واسمه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لمنع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الأخطاء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endParaRPr dirty="0"/>
          </a:p>
        </p:txBody>
      </p:sp>
      <p:sp>
        <p:nvSpPr>
          <p:cNvPr id="225" name="Google Shape;225;p23"/>
          <p:cNvSpPr txBox="1"/>
          <p:nvPr/>
        </p:nvSpPr>
        <p:spPr>
          <a:xfrm>
            <a:off x="1803400" y="3373489"/>
            <a:ext cx="10239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إشعار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المغادرة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التلقائي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ي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قوم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السيرفر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ببث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رسالة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واضحة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للجميع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: </a:t>
            </a:r>
            <a:r>
              <a:rPr lang="en-US" sz="1350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(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"nickname” left!)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لتنبيه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البقية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بمغادرته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مع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إغلاق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SA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اتصاله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بأمان</a:t>
            </a:r>
            <a:endParaRPr dirty="0"/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94402" y="253455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01387" y="296805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01387" y="3476363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235743" y="571500"/>
            <a:ext cx="1105138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استقرار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النظام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والوقاية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من</a:t>
            </a:r>
            <a:r>
              <a:rPr lang="en-US" sz="2550" b="1" i="0" u="none" strike="noStrike" cap="none" dirty="0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550" b="1" i="0" u="none" strike="noStrike" cap="none" dirty="0" err="1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الانهيار</a:t>
            </a:r>
            <a:endParaRPr dirty="0"/>
          </a:p>
        </p:txBody>
      </p:sp>
      <p:sp>
        <p:nvSpPr>
          <p:cNvPr id="230" name="Google Shape;230;p23"/>
          <p:cNvSpPr/>
          <p:nvPr/>
        </p:nvSpPr>
        <p:spPr>
          <a:xfrm>
            <a:off x="11382375" y="571500"/>
            <a:ext cx="47625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43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495300" y="2108894"/>
            <a:ext cx="11201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4099" y="4102550"/>
            <a:ext cx="8040224" cy="6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7767637" y="4310955"/>
            <a:ext cx="16573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الطالب</a:t>
            </a:r>
            <a:r>
              <a:rPr lang="ar-SA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بشير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العكلوك</a:t>
            </a:r>
            <a:endParaRPr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5405437" y="4310955"/>
            <a:ext cx="19812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بورت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العمل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المعتمد</a:t>
            </a:r>
            <a:r>
              <a:rPr lang="ar-SA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: 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8888</a:t>
            </a:r>
            <a:endParaRPr dirty="0"/>
          </a:p>
        </p:txBody>
      </p:sp>
      <p:sp>
        <p:nvSpPr>
          <p:cNvPr id="240" name="Google Shape;240;p24"/>
          <p:cNvSpPr txBox="1"/>
          <p:nvPr/>
        </p:nvSpPr>
        <p:spPr>
          <a:xfrm>
            <a:off x="2653666" y="4310955"/>
            <a:ext cx="23707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بيئة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التطوير</a:t>
            </a:r>
            <a:r>
              <a:rPr lang="ar-SA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 : 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Python &amp; Sockets</a:t>
            </a:r>
            <a:endParaRPr dirty="0"/>
          </a:p>
        </p:txBody>
      </p:sp>
      <p:pic>
        <p:nvPicPr>
          <p:cNvPr id="241" name="Google Shape;24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4987" y="431095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6637" y="43109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4437" y="431095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2124165" y="1658258"/>
            <a:ext cx="5093700" cy="2025900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 err="1">
                <a:solidFill>
                  <a:srgbClr val="10B98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iro"/>
                <a:cs typeface="Cairo"/>
                <a:sym typeface="Cairo"/>
              </a:rPr>
              <a:t>ThankYou</a:t>
            </a:r>
            <a:endParaRPr sz="8000" b="1" dirty="0">
              <a:solidFill>
                <a:srgbClr val="10B98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iro"/>
              <a:cs typeface="Cairo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816</Words>
  <Application>Microsoft Office PowerPoint</Application>
  <PresentationFormat>Widescreen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Cairo</vt:lpstr>
      <vt:lpstr>Cairo SemiBold</vt:lpstr>
      <vt:lpstr>Calibri</vt:lpstr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Ameer M Al-Aklouk</cp:lastModifiedBy>
  <cp:revision>19</cp:revision>
  <dcterms:modified xsi:type="dcterms:W3CDTF">2026-07-20T14:33:52Z</dcterms:modified>
</cp:coreProperties>
</file>